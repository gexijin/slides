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c262ac3-f446-cfb6-4223-8944a903e734}">
          <p14:sldIdLst>
            <p14:sldId id="256"/>
            <p14:sldId id="257"/>
          </p14:sldIdLst>
        </p14:section>
        <p14:section name="Mathematics" id="{1915ee55-8197-e2cb-a54e-ce83cc099a6e}">
          <p14:sldIdLst>
            <p14:sldId id="258"/>
            <p14:sldId id="259"/>
            <p14:sldId id="260"/>
            <p14:sldId id="261"/>
          </p14:sldIdLst>
        </p14:section>
        <p14:section name="Lab science" id="{e83d952e-36d6-4587-e4a3-ab851c52dd87}">
          <p14:sldIdLst>
            <p14:sldId id="262"/>
            <p14:sldId id="263"/>
            <p14:sldId id="264"/>
          </p14:sldIdLst>
        </p14:section>
        <p14:section name="Bioinformatics" id="{bb5f5df5-fe75-f665-4b7e-27ec83b9d178}">
          <p14:sldIdLst>
            <p14:sldId id="265"/>
            <p14:sldId id="266"/>
            <p14:sldId id="267"/>
          </p14:sldIdLst>
        </p14:section>
        <p14:section name="Biostatistics" id="{5c190d39-cc69-50c3-4b4d-32e369356a60}">
          <p14:sldIdLst>
            <p14:sldId id="268"/>
            <p14:sldId id="269"/>
          </p14:sldIdLst>
        </p14:section>
        <p14:section name="Summary" id="{6e099b04-78a2-5840-c217-6059f835230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404040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404040"/>
                </a:solidFill>
                <a:latin typeface="+mn-lt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Biomni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Database Qs</c:v>
                  </c:pt>
                  <c:pt idx="1">
                    <c:v>Sequence Qs</c:v>
                  </c:pt>
                  <c:pt idx="2">
                    <c:v>Humanity’s Last Exam (bio)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74.4</c:v>
                </c:pt>
                <c:pt idx="1">
                  <c:v>81.9</c:v>
                </c:pt>
                <c:pt idx="2">
                  <c:v>17.3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 experts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Database Qs</c:v>
                  </c:pt>
                  <c:pt idx="1">
                    <c:v>Sequence Qs</c:v>
                  </c:pt>
                  <c:pt idx="2">
                    <c:v>Humanity’s Last Exam (bio)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74.7</c:v>
                </c:pt>
                <c:pt idx="1">
                  <c:v>78.8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Plain LLM / baseline</c:v>
                </c:pt>
              </c:strCache>
            </c:strRef>
          </c:tx>
          <c:spPr>
            <a:solidFill>
              <a:srgbClr val="A5A5A5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Database Qs</c:v>
                  </c:pt>
                  <c:pt idx="1">
                    <c:v>Sequence Qs</c:v>
                  </c:pt>
                  <c:pt idx="2">
                    <c:v>Humanity’s Last Exam (bio)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40.8</c:v>
                </c:pt>
                <c:pt idx="1">
                  <c:v>0</c:v>
                </c:pt>
                <c:pt idx="2">
                  <c:v>6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3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40404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404040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404040"/>
                </a:solidFill>
                <a:latin typeface="+mn-lt"/>
              </a:rPr>
              <a:t>Remove retrieval tools: success rate drops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task success rate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Team of agents</c:v>
                  </c:pt>
                  <c:pt idx="1">
                    <c:v>Single agent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-0.14</c:v>
                </c:pt>
                <c:pt idx="1">
                  <c:v>-0.26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8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404040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404040"/>
                </a:solidFill>
                <a:latin typeface="+mn-lt"/>
              </a:rPr>
              <a:t>Code written by ChatGPT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code written by ChatGPT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22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RTutor.ai
2022</c:v>
                  </c:pt>
                  <c:pt idx="1">
                    <c:v>Chatlize.ai
2023</c:v>
                  </c:pt>
                  <c:pt idx="2">
                    <c:v>inspect
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60</c:v>
                </c:pt>
                <c:pt idx="2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22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Thesis: LLMs are imperfect (they hallucinate, write proofs no one can read, and botch analyses), yet paired with a good checker they greatly increase the tempo of science.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common thread of every discovery in this talk: the LLM generates, a checker decides what survives. The checker can be a proof checker (Lean), a simulator, a wet lab, or a statistician.
Kohli (DeepMind): hallucinations are fine when an evaluator filters them; some turn out to be brilliant new ideas.
First example, FunSearch (Nature, Dec 2023): largest known cap set in 8 dimensions grew from 496 to 512; also better bin-packing heuristics.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AlphaEvolve (Google DeepMind, May 2025): an evolutionary coding agent built on Gemini. The LLM writes candidate programs; an automated evaluator scores them; the best are evolved further.
• Matrix multiplication: 4×4 complex matrices with 48 scalar multiplications; recursive Strassen (1969) needs 49.
• Kissing number in 11-D: 593 spheres touching a central sphere, a new lower bound.
• Tao, Gómez-Serrano, Georgiev &amp; Wagner (Nov 2025) tested it on 67 problems in analysis, combinatorics, geometry and number theory: it matched the best known results in most and improved several (Kakeya and Nikodym sets, packing, moving sofa). Its constructions are prompting new theory from Tao.
• Also: data-center scheduling code that Google says recovers ~0.7% of its compute.
Imperfect: works only when a computer can score each candidate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Dec 2025: first Erdős problem resolved autonomously by an LLM (Quanta). Most early wins came from hobbyists and students using public chatbots.
• Jan 4, 2026: Erdős #728 solved with GPT-5.2 Pro; proof certified in Lean by Harmonic's Aristotle.
• Jan 2026: a 24-person team led by Google DeepMind checked 700 open conjectures with Gemini: solved 4, and found 9 had already been solved in forgotten papers.
• May 2026: DeepMind agent pairing an LLM with Lean resolved 9 of 353 open Erdős problems at a few hundred dollars per problem.
• May 2026: OpenAI disproved Erdős's planar unit distance conjecture. Scientific American: first AI proof likely publishable in a top journal. Checked privately by Gowers, Litt and Sawin; Sawin has already improved the AI's construction.
• Also: Erdős #1196, an amateur gave GPT-5.4 Pro just the problem statement and got a sub-one-page proof that Jared Lichtman (Stanford) called a potential 'Book Proof.'
Imperfect: wins are mostly problems with one key insight and a short proof; deep structural problems remain out of reach. Some 'new' solutions were old results. Terence Tao keeps a wiki of AI contributions to Erdős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 Millennium Prize problems were posed by the Clay Institute in 2000 ($1M each). Only Poincaré has been solved (Perelman, 2003).
OpenAI's claim (early Sept 2026): an internal model proved the Navier–Stokes equations can break down, giving an example where a fluid reaches infinite velocity. Scientific American reports it used a swarm of ~10,000 agents costing millions of dollars in compute.
Reactions:
• James Maynard (Oxford): 'So far it's been very difficult to really extract any human understanding from this new AI proof.'
• Luis Silvestre (Chicago): 'The most important problem is unsolved'; a recent paper argues OpenAI's approach cannot reach the full problem.
• Javier Gómez-Serrano (Brown): could help the field after substantial rewriting.
• Florian Schäfer (NYU): the scenario is so contrived it is unlikely to matter for real fluids.
• Priority dispute: Tristan Buckmaster and Levent Alpöge say OpenAI followed their unpublished approach; OpenAI denies accessing their drafts but can't rule out that de-identified usage data helped train its models.
Not independently verified as of Oct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Released Oct 6, 2026 to github.com/openai/math, generated by an unreleased internal OpenAI model. The repo says 719 manuscripts in 372 'families' (a principal result plus companion arguments or alternative proofs); news outlets reported 722. About 42% of top-line results are formalized in Lean.
Claimed results include:
• Kakeya conjecture in 4 dimensions
• A zero-free region for the Riemann zeta function, Re(s) &gt; 11/12
• Hodge conjecture for CM abelian varieties
• Irrationality exponent of π; Mahler conjectures; Kaplansky's direct-finiteness conjecture in characteristic 2
OpenAI spokesperson: almost every result came from a single prompt to a single agent. The repo itself warns 'Some of the unformalized results could have issues.'
Reactions (Scientific American):
• Daniel Litt (Toronto): 'It's going to be a good thing for mathematics.'
• Andrew Sutherland (MIT): 'We should ask for receipts.'
• Terence Tao has criticized the 'insane' pace of AI-generated results.
The bottleneck has shifted from discovery to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Google's AI co-scientist (Feb 2025): a multi-agent system on Gemini that generates, debates and ranks research hypotheses.
José Penadés's lab at Imperial College spent about a decade showing that capsid-forming phage-inducible chromosomal islands (cf-PICIs) hijack tails from many different phages to spread genes across bacterial species. Before publication, they asked the co-scientist the same question; in ~2 days it proposed the same mechanism as its top hypothesis, without access to the unpublished data.
Also: proposed drug-repurposing candidates for acute myeloid leukemia that inhibited tumor cells in lab tests, and targets for liver fibrosis.
Imperfect: it generates hypotheses; humans still choose which to test and do the experiments. These come from Google's own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Robin (FutureHouse, preprint May 2025): a multi-agent system that automates the intellectual steps of discovery. Literature agents read papers and propose hypotheses; Finch analyzes experimental data by writing Python and R.
Target: dry age-related macular degeneration (dAMD), a leading cause of blindness. Robin proposed enhancing phagocytosis by retinal pigment epithelium (RPE) cells, chose drugs to test, and analyzed the results. Ripasudil, a ROCK inhibitor approved for glaucoma in Japan, came out on top. Follow-up RNA-seq analysis found ABCA1 (a lipid efflux pump) up-regulated 3-fold.
Humans ran the wet-lab experiments. Still preclinical: no patients treated.
Imperfect, and a good point for statisticians: the preprint says ripasudil 'increased RPE cell phagocytosis 7.5-fold compared to DMSO controls (human analysis showed 1.75-fold ...)'. The analysis step needs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University of Rochester (April 2026): users describe the material they want in plain language, and an LLM proposes experimental procedures to make it. In the reported case, the search for a catalyst went from about 360,000 possibilities to 10 experiments.
Source is a university news release; I did not check the underlying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Biomni case study (bioRxiv paper): single-nucleus multiome (RNA + ATAC) data, ~336,000 profiles from human embryos 5–11 weeks post-conception, covering hip, knee and shoulder joints.
Biomni planned and ran a 10-step gene-regulatory-network analysis in just over five hours, recovering 566–589 regulons.
• Recovered known biology: regulation of RUNX2 and HHIP by TWIST1, LMX1B and ALX4.
• Flagged AUTS2, ZFHX3 and PBX1 as highly active regulators across skeletal lineages. PBX1 is an established skeletal regulator; ZFHX3 and AUTS2 have only limited or indirect skeletal reports, so they are new candidates.
• Limb mesenchyme had the highest mean regulon activity.
These are computational hypotheses, not yet tested in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Biomni (Stanford; bioRxiv 2025, Science July 2026): a general-purpose biomedical agent with 100+ tools and databases that plans, writes and runs code, and reports.
Accuracy (%), from the bioRxiv paper:
• LAB-Bench database questions (DbQA): Biomni 74.4, human experts 74.7, best baseline (ReAct+Code agent) 40.8
• LAB-Bench sequence reasoning (SeqQA): Biomni 81.9, human experts 78.8
• Humanity's Last Exam, 52-question biomedical subset: Biomni 17.3, base Claude Sonnet 3.7 6.0 (no human baseline)
Missing bars = not reported.
Also: across 8 real-world tasks (rare-disease diagnosis, GWAS causal genes, single-cell annotation, etc.), +402% vs the base LLM on average. Runs single-cell, GWAS and survival analyses end to end.
Wet lab: designed B2M sgRNA cloning; both sequenced colonies matched the design. Cloning protocols rated on par with experts.
Tempo: 35 minutes vs ~3 weeks for a wearable-sensor analysis (458 files) is from Anthropic's customer case study, which is promotional; another write-up says ~60 hours of human work.
Imperfect: the makers stress it can produce plausible but wrong output; a scientist must check.
For a statistics audience: in the wearable case study Biomni reported postprandial core-temperature rises up to 15.56°C, a physiologically impossible value it did not flag. Plausible-looking output still needs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Liu et al. (arXiv 2508.13201, v2 Jan 2026; possibly Genome Biology, unconfirmed): 50 real-world single-cell omics tasks (clustering, annotation, batch correction, spatial domains, cell-cell communication...). 8 LLMs: GPT-4o, GPT-4.1, DeepSeek-R1, DeepSeek-V3, Qwen-2.5-max, Sonnet-3.7, Gemini-2.5-pro, Grok3-beta. 3 frameworks: ReAct (single agent), LangGraph and AutoGen (multi-agent). 18 metrics combined into a total score.
Findings:
• Grok3-beta had the best task success rate in every framework; vs Sonnet-3.7, Wilcoxon signed-rank = 490, p = 0.0039.
• Multi-agent frameworks were more efficient; ReAct needed 2–3x more rounds but had 12–18% higher retrieval accuracy.
• Ablation (chart): removing retrieval tools cut task success by 0.14 for AutoGen and 0.26 for ReAct. Removing self-reflection hurt most; even simple tasks (scVI, Harmony) failed without it.
• Weak spots: code generation, long contexts, context-aware knowledge retrieval.
Statistical note: most scoring used LLM judges, averaged over three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of code written by ChatGPT in three of our projects (from my 'Coding with ChatGPT' talk):
• RTutor.ai (Dec 2022), data-analysis chatbot: 15%
• Chatlize.ai (May 2023), analytics with LLMs: 60%
• inspect (Jan 2024), R package for EDA: 85%
RTutor: ask in plain English and get R code, results and a report. Same loop as the rest of the talk: AI writes the code; we run it, check it and fix it.
Imperfect: every version needed testing and many rounds of 'that was incomplete', 'that doesn't work, fix it'.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verified LLM-discovered statistical method or theorem yet (as of Oct 2026). Open problems:
1. Multiplicity: agents can try many analyses and report one. Is type I error controlled? Garden of forking paths, automated.
2. Reproducibility: same prompt, different answers; Biomni and benchmark agents vary run to run. How much variation is acceptable?
3. Measurement: most AI benchmarks use LLMs as judges. Are those scores valid and reliable? Agreement with human experts?
4. Inference: LLMs as estimators (e.g., predicting human survey responses, arXiv 2606.30372); LLM-proposed models weighted by SMC (ModelSMC, arXiv 2602.18266), where a reviewer reports a gap in its consistency proof.
LLMs as proof assistants: 'Majority-of-Three is Optimal' (2026): a human found the proof; GPT-5.5 Pro only checked calculations and simplified it; no LLM produced the full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the tempo numbers (sources on earlier slides):
• AI co-scientist: same hypothesis in 2 days that took a lab ~10 years
• Rochester: catalyst found with 10 experiments out of ~360,000 possibilities
• Biomni: gene-regulatory analysis of 336,000 cells in ~5 hours (no human time reported in the paper)
• OpenAI: 719 manuscripts released at once
• Our lab: ChatGPT-written code share from 15% to 85%
Close: these tools are imperfect: they hallucinate, write proofs no one can read, and botch analyses. But paired with a good checker, they change the tempo of science. Fast science needs careful checkers, and that is a statistician's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7F7F7F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</a:rPr>
              <a:t>Imperfect tools, </a:t>
            </a:r>
            <a:pPr indent="0" marL="0">
              <a:buNone/>
            </a:pPr>
            <a:r>
              <a:rPr lang="en-US" sz="5400" dirty="0">
                <a:solidFill>
                  <a:srgbClr val="FF0000"/>
                </a:solidFill>
              </a:rPr>
              <a:t>faster science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Scientific discoveries made with LLMs, 2023–2026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Xijin “Steven” Ge  |  SDSU, Math &amp; Stat.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Imperfect generator + good checker = faster science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Romera-Paredes et al., Nature 2023 (FunSearch); Kohli, Sequoia Training Data podcast</a:t>
            </a:r>
            <a:endParaRPr lang="en-US" sz="1200" dirty="0"/>
          </a:p>
        </p:txBody>
      </p:sp>
      <p:sp>
        <p:nvSpPr>
          <p:cNvPr id="4" name="loop-0"/>
          <p:cNvSpPr/>
          <p:nvPr/>
        </p:nvSpPr>
        <p:spPr>
          <a:xfrm>
            <a:off x="3063240" y="1417320"/>
            <a:ext cx="2011680" cy="201168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063240" y="14173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ideas</a:t>
            </a:r>
            <a:endParaRPr lang="en-US" sz="2000" dirty="0"/>
          </a:p>
        </p:txBody>
      </p:sp>
      <p:sp>
        <p:nvSpPr>
          <p:cNvPr id="6" name="loop-1"/>
          <p:cNvSpPr/>
          <p:nvPr/>
        </p:nvSpPr>
        <p:spPr>
          <a:xfrm>
            <a:off x="6629400" y="1417320"/>
            <a:ext cx="2011680" cy="201168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629400" y="14173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them</a:t>
            </a:r>
            <a:endParaRPr lang="en-US" sz="2000" dirty="0"/>
          </a:p>
        </p:txBody>
      </p:sp>
      <p:sp>
        <p:nvSpPr>
          <p:cNvPr id="8" name="loop-2"/>
          <p:cNvSpPr/>
          <p:nvPr/>
        </p:nvSpPr>
        <p:spPr>
          <a:xfrm>
            <a:off x="4846320" y="3337560"/>
            <a:ext cx="2011680" cy="2011680"/>
          </a:xfrm>
          <a:prstGeom prst="ellipse">
            <a:avLst/>
          </a:prstGeom>
          <a:solidFill>
            <a:schemeClr val="accent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33375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best,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more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212080" y="2423160"/>
            <a:ext cx="1280160" cy="0"/>
          </a:xfrm>
          <a:prstGeom prst="line">
            <a:avLst/>
          </a:prstGeom>
          <a:noFill/>
          <a:ln w="381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6720840" y="3474720"/>
            <a:ext cx="457200" cy="457200"/>
          </a:xfrm>
          <a:prstGeom prst="line">
            <a:avLst/>
          </a:prstGeom>
          <a:noFill/>
          <a:ln w="381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 flipV="1">
            <a:off x="4206240" y="3429000"/>
            <a:ext cx="548640" cy="594360"/>
          </a:xfrm>
          <a:prstGeom prst="line">
            <a:avLst/>
          </a:prstGeom>
          <a:noFill/>
          <a:ln w="381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checker can be a proof checker, a simulator, a lab experiment, or a statistician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AlphaEvolve beats 50-year-old math records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Novikov et al., Google DeepMind 2025; Georgiev, Gómez-Serrano, Tao &amp; Wagner, arXiv 2511.02864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records stood for decades, like the fewest multiplications needed to multiply 4×4 matrices (Strassen, 1969)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DeepMind: an LLM writes candidate programs, a computer scores them, and the best are evolved further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solutions to several open problems, including two new records</a:t>
            </a:r>
            <a:endParaRPr lang="en-US" sz="1800" dirty="0"/>
          </a:p>
        </p:txBody>
      </p:sp>
      <p:sp>
        <p:nvSpPr>
          <p:cNvPr id="10" name="stat-0"/>
          <p:cNvSpPr/>
          <p:nvPr/>
        </p:nvSpPr>
        <p:spPr>
          <a:xfrm>
            <a:off x="6263640" y="1508760"/>
            <a:ext cx="5074920" cy="20574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37960" y="16916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Multiplications, 4×4 complex matrices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1488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pPr algn="ctr" indent="0" marL="0">
              <a:buNone/>
            </a:pPr>
            <a:r>
              <a:rPr lang="en-US" sz="60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6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6000" dirty="0"/>
          </a:p>
        </p:txBody>
      </p:sp>
      <p:sp>
        <p:nvSpPr>
          <p:cNvPr id="13" name="stat-1"/>
          <p:cNvSpPr/>
          <p:nvPr/>
        </p:nvSpPr>
        <p:spPr>
          <a:xfrm>
            <a:off x="6263640" y="3749040"/>
            <a:ext cx="5074920" cy="20574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37960" y="39319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Kissing number in 11 dimensions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3891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592</a:t>
            </a:r>
            <a:pPr algn="ctr" indent="0" marL="0">
              <a:buNone/>
            </a:pPr>
            <a:r>
              <a:rPr lang="en-US" sz="60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6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593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LLMs solve open Erdős problems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Quanta Magazine, Aug 2026; Scientific American 2026; DeepMind, arXiv 2605.22763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Erdős left hundreds of open problems in combinatorics and number theory, many unsolved for decades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Mathematicians, amateurs, and AI labs prompted LLMs; proofs were checked by experts or the Lean proof checker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solved within months, and Erdős’s unit distance conjecture was disproved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37960" y="1783080"/>
            <a:ext cx="0" cy="3566160"/>
          </a:xfrm>
          <a:prstGeom prst="line">
            <a:avLst/>
          </a:prstGeom>
          <a:noFill/>
          <a:ln w="38100">
            <a:solidFill>
              <a:srgbClr val="A5A5A5"/>
            </a:solidFill>
            <a:prstDash val="solid"/>
          </a:ln>
        </p:spPr>
      </p:sp>
      <p:sp>
        <p:nvSpPr>
          <p:cNvPr id="11" name="tl-dot-0"/>
          <p:cNvSpPr/>
          <p:nvPr/>
        </p:nvSpPr>
        <p:spPr>
          <a:xfrm>
            <a:off x="6355080" y="1618488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1554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 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problem solved by an LLM</a:t>
            </a:r>
            <a:endParaRPr lang="en-US" sz="1800" dirty="0"/>
          </a:p>
        </p:txBody>
      </p:sp>
      <p:sp>
        <p:nvSpPr>
          <p:cNvPr id="13" name="tl-dot-1"/>
          <p:cNvSpPr/>
          <p:nvPr/>
        </p:nvSpPr>
        <p:spPr>
          <a:xfrm>
            <a:off x="6355080" y="2487168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2423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#728 solved, checked in Lean</a:t>
            </a:r>
            <a:endParaRPr lang="en-US" sz="1800" dirty="0"/>
          </a:p>
        </p:txBody>
      </p:sp>
      <p:sp>
        <p:nvSpPr>
          <p:cNvPr id="15" name="tl-dot-2"/>
          <p:cNvSpPr/>
          <p:nvPr/>
        </p:nvSpPr>
        <p:spPr>
          <a:xfrm>
            <a:off x="6355080" y="3355848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3291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700 conjectures solved</a:t>
            </a:r>
            <a:endParaRPr lang="en-US" sz="1800" dirty="0"/>
          </a:p>
        </p:txBody>
      </p:sp>
      <p:sp>
        <p:nvSpPr>
          <p:cNvPr id="17" name="tl-dot-3"/>
          <p:cNvSpPr/>
          <p:nvPr/>
        </p:nvSpPr>
        <p:spPr>
          <a:xfrm>
            <a:off x="6355080" y="4224528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4160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353 solved by an agent</a:t>
            </a:r>
            <a:endParaRPr lang="en-US" sz="1800" dirty="0"/>
          </a:p>
        </p:txBody>
      </p:sp>
      <p:sp>
        <p:nvSpPr>
          <p:cNvPr id="19" name="tl-dot-4"/>
          <p:cNvSpPr/>
          <p:nvPr/>
        </p:nvSpPr>
        <p:spPr>
          <a:xfrm>
            <a:off x="6355080" y="5093208"/>
            <a:ext cx="365760" cy="365760"/>
          </a:xfrm>
          <a:prstGeom prst="ellipse">
            <a:avLst/>
          </a:prstGeom>
          <a:solidFill>
            <a:srgbClr val="FF0000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50292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 </a:t>
            </a:r>
            <a:pPr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distance conjecture disproved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Navier–Stokes: an AI claim on a Millennium Prize problem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Scientific American, Sept 18 &amp; Oct 6 2026; NPR, Sept 22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smooth fluid flow suddenly blow up? A $1 million Millennium Prize problem since 2000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ran a swarm of ~10,000 AI agents on it (Sept 2026)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 that reaches infinite velocity. Not yet verified; experts say the full problem is still open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4630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Millennium Prize problems</a:t>
            </a:r>
            <a:endParaRPr lang="en-US" sz="1800" dirty="0"/>
          </a:p>
        </p:txBody>
      </p:sp>
      <p:sp>
        <p:nvSpPr>
          <p:cNvPr id="11" name="mp-0"/>
          <p:cNvSpPr/>
          <p:nvPr/>
        </p:nvSpPr>
        <p:spPr>
          <a:xfrm>
            <a:off x="6309360" y="2084832"/>
            <a:ext cx="347472" cy="347472"/>
          </a:xfrm>
          <a:prstGeom prst="ellipse">
            <a:avLst/>
          </a:prstGeom>
          <a:solidFill>
            <a:srgbClr val="A5A5A5"/>
          </a:solidFill>
          <a:ln w="19050">
            <a:solidFill>
              <a:srgbClr val="A5A5A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2011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Poincaré   </a:t>
            </a:r>
            <a:pPr indent="0" marL="0">
              <a:buNone/>
            </a:pPr>
            <a:r>
              <a:rPr lang="en-US" sz="18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2003</a:t>
            </a:r>
            <a:endParaRPr lang="en-US" sz="1800" dirty="0"/>
          </a:p>
        </p:txBody>
      </p:sp>
      <p:sp>
        <p:nvSpPr>
          <p:cNvPr id="13" name="mp-1"/>
          <p:cNvSpPr/>
          <p:nvPr/>
        </p:nvSpPr>
        <p:spPr>
          <a:xfrm>
            <a:off x="6309360" y="2615184"/>
            <a:ext cx="347472" cy="347472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2542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Navier–Stokes   </a:t>
            </a:r>
            <a:pPr indent="0" marL="0">
              <a:buNone/>
            </a:pPr>
            <a:r>
              <a:rPr lang="en-US" sz="18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claim, 2026</a:t>
            </a:r>
            <a:endParaRPr lang="en-US" sz="1800" dirty="0"/>
          </a:p>
        </p:txBody>
      </p:sp>
      <p:sp>
        <p:nvSpPr>
          <p:cNvPr id="15" name="mp-2"/>
          <p:cNvSpPr/>
          <p:nvPr/>
        </p:nvSpPr>
        <p:spPr>
          <a:xfrm>
            <a:off x="6309360" y="3145536"/>
            <a:ext cx="347472" cy="347472"/>
          </a:xfrm>
          <a:prstGeom prst="ellipse">
            <a:avLst/>
          </a:prstGeom>
          <a:solidFill>
            <a:schemeClr val="bg1"/>
          </a:solidFill>
          <a:ln w="19050">
            <a:solidFill>
              <a:srgbClr val="A5A5A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30723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Riemann   </a:t>
            </a:r>
            <a:pPr indent="0" marL="0">
              <a:buNone/>
            </a:pPr>
            <a:r>
              <a:rPr lang="en-US" sz="18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800" dirty="0"/>
          </a:p>
        </p:txBody>
      </p:sp>
      <p:sp>
        <p:nvSpPr>
          <p:cNvPr id="17" name="mp-3"/>
          <p:cNvSpPr/>
          <p:nvPr/>
        </p:nvSpPr>
        <p:spPr>
          <a:xfrm>
            <a:off x="6309360" y="3675888"/>
            <a:ext cx="347472" cy="347472"/>
          </a:xfrm>
          <a:prstGeom prst="ellipse">
            <a:avLst/>
          </a:prstGeom>
          <a:solidFill>
            <a:schemeClr val="bg1"/>
          </a:solidFill>
          <a:ln w="19050">
            <a:solidFill>
              <a:srgbClr val="A5A5A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36027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vs NP   </a:t>
            </a:r>
            <a:pPr indent="0" marL="0">
              <a:buNone/>
            </a:pPr>
            <a:r>
              <a:rPr lang="en-US" sz="18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800" dirty="0"/>
          </a:p>
        </p:txBody>
      </p:sp>
      <p:sp>
        <p:nvSpPr>
          <p:cNvPr id="19" name="mp-4"/>
          <p:cNvSpPr/>
          <p:nvPr/>
        </p:nvSpPr>
        <p:spPr>
          <a:xfrm>
            <a:off x="6309360" y="4206240"/>
            <a:ext cx="347472" cy="347472"/>
          </a:xfrm>
          <a:prstGeom prst="ellipse">
            <a:avLst/>
          </a:prstGeom>
          <a:solidFill>
            <a:schemeClr val="bg1"/>
          </a:solidFill>
          <a:ln w="19050">
            <a:solidFill>
              <a:srgbClr val="A5A5A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41330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Hodge   </a:t>
            </a:r>
            <a:pPr indent="0" marL="0">
              <a:buNone/>
            </a:pPr>
            <a:r>
              <a:rPr lang="en-US" sz="18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800" dirty="0"/>
          </a:p>
        </p:txBody>
      </p:sp>
      <p:sp>
        <p:nvSpPr>
          <p:cNvPr id="21" name="mp-5"/>
          <p:cNvSpPr/>
          <p:nvPr/>
        </p:nvSpPr>
        <p:spPr>
          <a:xfrm>
            <a:off x="6309360" y="4736592"/>
            <a:ext cx="347472" cy="347472"/>
          </a:xfrm>
          <a:prstGeom prst="ellipse">
            <a:avLst/>
          </a:prstGeom>
          <a:solidFill>
            <a:schemeClr val="bg1"/>
          </a:solidFill>
          <a:ln w="19050">
            <a:solidFill>
              <a:srgbClr val="A5A5A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0" y="4663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Yang–Mills   </a:t>
            </a:r>
            <a:pPr indent="0" marL="0">
              <a:buNone/>
            </a:pPr>
            <a:r>
              <a:rPr lang="en-US" sz="18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800" dirty="0"/>
          </a:p>
        </p:txBody>
      </p:sp>
      <p:sp>
        <p:nvSpPr>
          <p:cNvPr id="23" name="mp-6"/>
          <p:cNvSpPr/>
          <p:nvPr/>
        </p:nvSpPr>
        <p:spPr>
          <a:xfrm>
            <a:off x="6309360" y="5266944"/>
            <a:ext cx="347472" cy="347472"/>
          </a:xfrm>
          <a:prstGeom prst="ellipse">
            <a:avLst/>
          </a:prstGeom>
          <a:solidFill>
            <a:schemeClr val="bg1"/>
          </a:solidFill>
          <a:ln w="19050">
            <a:solidFill>
              <a:srgbClr val="A5A5A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51937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Birch–Swinnerton-Dyer   </a:t>
            </a:r>
            <a:pPr indent="0" marL="0">
              <a:buNone/>
            </a:pPr>
            <a:r>
              <a:rPr lang="en-US" sz="18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OpenAI posts 719 AI-written math papers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github.com/openai/math; Scientific American, Oct 6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open problems across mathematics, theoretical computer science, and physics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unreleased OpenAI model attacked them, mostly with one prompt per problem; papers posted on GitHub (Oct 6, 2026)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results include the 4-D Kakeya conjecture and the Hodge conjecture for CM abelian varieties</a:t>
            </a:r>
            <a:endParaRPr lang="en-US" sz="1800" dirty="0"/>
          </a:p>
        </p:txBody>
      </p:sp>
      <p:sp>
        <p:nvSpPr>
          <p:cNvPr id="10" name="funnel-0"/>
          <p:cNvSpPr/>
          <p:nvPr/>
        </p:nvSpPr>
        <p:spPr>
          <a:xfrm>
            <a:off x="6263640" y="1645920"/>
            <a:ext cx="507492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63640" y="164592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</a:t>
            </a:r>
            <a:endParaRPr lang="en-US" sz="40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manuscripts</a:t>
            </a:r>
            <a:endParaRPr lang="en-US" sz="4000" dirty="0"/>
          </a:p>
        </p:txBody>
      </p:sp>
      <p:sp>
        <p:nvSpPr>
          <p:cNvPr id="12" name="funnel-1"/>
          <p:cNvSpPr/>
          <p:nvPr/>
        </p:nvSpPr>
        <p:spPr>
          <a:xfrm>
            <a:off x="6720840" y="2971800"/>
            <a:ext cx="416052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20840" y="297180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</a:t>
            </a:r>
            <a:endParaRPr lang="en-US" sz="40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claimed</a:t>
            </a:r>
            <a:endParaRPr lang="en-US" sz="4000" dirty="0"/>
          </a:p>
        </p:txBody>
      </p:sp>
      <p:sp>
        <p:nvSpPr>
          <p:cNvPr id="14" name="funnel-2"/>
          <p:cNvSpPr/>
          <p:nvPr/>
        </p:nvSpPr>
        <p:spPr>
          <a:xfrm>
            <a:off x="7178040" y="4297680"/>
            <a:ext cx="3246120" cy="1097280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178040" y="42976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~42%</a:t>
            </a:r>
            <a:endParaRPr lang="en-US" sz="40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 Lean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AI co-scientist matched an unpublished finding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Gottweis et al., Google 2025; Penadés et al., Cell 2025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certain genetic elements (cf-PICIs) spread genes across many bacterial species?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Google’s AI co-scientist, a team of Gemini agents, generated hypotheses without seeing the lab’s unpublished data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hijack tails from many different phages: the same answer the lab had found</a:t>
            </a:r>
            <a:endParaRPr lang="en-US" sz="1800" dirty="0"/>
          </a:p>
        </p:txBody>
      </p:sp>
      <p:sp>
        <p:nvSpPr>
          <p:cNvPr id="10" name="lane-0"/>
          <p:cNvSpPr/>
          <p:nvPr/>
        </p:nvSpPr>
        <p:spPr>
          <a:xfrm>
            <a:off x="6263640" y="155448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7F7F7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63640" y="15544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 College lab</a:t>
            </a:r>
            <a:endParaRPr lang="en-US" sz="18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years</a:t>
            </a:r>
            <a:endParaRPr lang="en-US" sz="1800" dirty="0"/>
          </a:p>
        </p:txBody>
      </p:sp>
      <p:sp>
        <p:nvSpPr>
          <p:cNvPr id="12" name="lane-1"/>
          <p:cNvSpPr/>
          <p:nvPr/>
        </p:nvSpPr>
        <p:spPr>
          <a:xfrm>
            <a:off x="8961120" y="155448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FF00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961120" y="15544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co-scientist</a:t>
            </a:r>
            <a:endParaRPr lang="en-US" sz="18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52360" y="3108960"/>
            <a:ext cx="914400" cy="822960"/>
          </a:xfrm>
          <a:prstGeom prst="line">
            <a:avLst/>
          </a:prstGeom>
          <a:noFill/>
          <a:ln w="317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9235440" y="3108960"/>
            <a:ext cx="914400" cy="822960"/>
          </a:xfrm>
          <a:prstGeom prst="line">
            <a:avLst/>
          </a:prstGeom>
          <a:noFill/>
          <a:ln w="317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6" name="same-answer"/>
          <p:cNvSpPr/>
          <p:nvPr/>
        </p:nvSpPr>
        <p:spPr>
          <a:xfrm>
            <a:off x="6263640" y="4023360"/>
            <a:ext cx="5074920" cy="13716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402336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hypothesis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Robin finds a drug candidate for macular degeneration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Ghareeb et al., “Robin: A multi-agent system for automating scientific discovery,” arXiv 2505.13400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age-related macular degeneration, a leading cause of blindness, has few treatments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Robin’s agents read papers, proposed a mechanism, and picked drugs; humans ran cell assays; AI analyzed the data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Ripasudil, a glaucoma drug, boosted retinal cells’ clean-up activity (preclinical)</a:t>
            </a:r>
            <a:endParaRPr lang="en-US" sz="1800" dirty="0"/>
          </a:p>
        </p:txBody>
      </p:sp>
      <p:sp>
        <p:nvSpPr>
          <p:cNvPr id="10" name="step-0"/>
          <p:cNvSpPr/>
          <p:nvPr/>
        </p:nvSpPr>
        <p:spPr>
          <a:xfrm>
            <a:off x="6263640" y="1554480"/>
            <a:ext cx="507492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63640" y="15544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papers, propose a mechanism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801100" y="2359152"/>
            <a:ext cx="0" cy="219456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3" name="step-1"/>
          <p:cNvSpPr/>
          <p:nvPr/>
        </p:nvSpPr>
        <p:spPr>
          <a:xfrm>
            <a:off x="6263640" y="2606040"/>
            <a:ext cx="507492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636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drugs to test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801100" y="3410712"/>
            <a:ext cx="0" cy="219456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6" name="step-2"/>
          <p:cNvSpPr/>
          <p:nvPr/>
        </p:nvSpPr>
        <p:spPr>
          <a:xfrm>
            <a:off x="6263640" y="3657600"/>
            <a:ext cx="5074920" cy="777240"/>
          </a:xfrm>
          <a:prstGeom prst="roundRect">
            <a:avLst>
              <a:gd name="adj" fmla="val 11765"/>
            </a:avLst>
          </a:prstGeom>
          <a:solidFill>
            <a:srgbClr val="7F7F7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63640" y="36576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run cell assays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801100" y="4462272"/>
            <a:ext cx="0" cy="219456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9" name="step-3"/>
          <p:cNvSpPr/>
          <p:nvPr/>
        </p:nvSpPr>
        <p:spPr>
          <a:xfrm>
            <a:off x="6263640" y="4709160"/>
            <a:ext cx="5074920" cy="777240"/>
          </a:xfrm>
          <a:prstGeom prst="roundRect">
            <a:avLst>
              <a:gd name="adj" fmla="val 11765"/>
            </a:avLst>
          </a:prstGeom>
          <a:solidFill>
            <a:srgbClr val="FF00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63640" y="470916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data → ripasudil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LLM designs a recipe for a new catalyst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University of Rochester News Center, April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new material means searching a huge space of possible recipes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described the target material in plain language; an LLM proposed how to make 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catalyst found with 10 experiments instead of searching ~360,000 possibilities</a:t>
            </a:r>
            <a:endParaRPr lang="en-US" sz="1800" dirty="0"/>
          </a:p>
        </p:txBody>
      </p:sp>
      <p:sp>
        <p:nvSpPr>
          <p:cNvPr id="10" name="stat-0"/>
          <p:cNvSpPr/>
          <p:nvPr/>
        </p:nvSpPr>
        <p:spPr>
          <a:xfrm>
            <a:off x="6263640" y="1508760"/>
            <a:ext cx="5074920" cy="20574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37960" y="16916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recipes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1488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60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6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360,000</a:t>
            </a:r>
            <a:endParaRPr lang="en-US" sz="6000" dirty="0"/>
          </a:p>
        </p:txBody>
      </p:sp>
      <p:sp>
        <p:nvSpPr>
          <p:cNvPr id="13" name="stat-1"/>
          <p:cNvSpPr/>
          <p:nvPr/>
        </p:nvSpPr>
        <p:spPr>
          <a:xfrm>
            <a:off x="6263640" y="3749040"/>
            <a:ext cx="5074920" cy="20574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37960" y="39319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needed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3891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60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6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Biomni proposes new regulators of bone development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Huang et al., “Biomni: A general-purpose biomedical AI agent,” bioRxiv 2025; Science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genes control how human bones and joints form in the embryo?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Biomni ran a 10-step gene-regulatory analysis of ~336,000 single cells (RNA + ATAC) from embryonic joints in ~5 hours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known regulators and flagged AUTS2 and ZFHX3 as new candidates</a:t>
            </a:r>
            <a:endParaRPr lang="en-US" sz="1800" dirty="0"/>
          </a:p>
        </p:txBody>
      </p:sp>
      <p:sp>
        <p:nvSpPr>
          <p:cNvPr id="10" name="flow-0"/>
          <p:cNvSpPr/>
          <p:nvPr/>
        </p:nvSpPr>
        <p:spPr>
          <a:xfrm>
            <a:off x="6263640" y="1554480"/>
            <a:ext cx="50749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63640" y="15544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336,000 cells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+ ATAC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801100" y="2496312"/>
            <a:ext cx="0" cy="265176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3" name="flow-1"/>
          <p:cNvSpPr/>
          <p:nvPr/>
        </p:nvSpPr>
        <p:spPr>
          <a:xfrm>
            <a:off x="6263640" y="2788920"/>
            <a:ext cx="50749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63640" y="27889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~580 gene-regulatory modules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801100" y="3730752"/>
            <a:ext cx="0" cy="265176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6" name="gene-0"/>
          <p:cNvSpPr/>
          <p:nvPr/>
        </p:nvSpPr>
        <p:spPr>
          <a:xfrm>
            <a:off x="6316980" y="4069080"/>
            <a:ext cx="1463040" cy="1463040"/>
          </a:xfrm>
          <a:prstGeom prst="ellipse">
            <a:avLst/>
          </a:prstGeom>
          <a:solidFill>
            <a:srgbClr val="A5A5A5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16980" y="40690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PBX1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</a:t>
            </a:r>
            <a:endParaRPr lang="en-US" sz="2000" dirty="0"/>
          </a:p>
        </p:txBody>
      </p:sp>
      <p:sp>
        <p:nvSpPr>
          <p:cNvPr id="18" name="gene-1"/>
          <p:cNvSpPr/>
          <p:nvPr/>
        </p:nvSpPr>
        <p:spPr>
          <a:xfrm>
            <a:off x="8069580" y="4069080"/>
            <a:ext cx="1463040" cy="1463040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69580" y="40690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AUTS2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2000" dirty="0"/>
          </a:p>
        </p:txBody>
      </p:sp>
      <p:sp>
        <p:nvSpPr>
          <p:cNvPr id="20" name="gene-2"/>
          <p:cNvSpPr/>
          <p:nvPr/>
        </p:nvSpPr>
        <p:spPr>
          <a:xfrm>
            <a:off x="9822180" y="4069080"/>
            <a:ext cx="1463040" cy="1463040"/>
          </a:xfrm>
          <a:prstGeom prst="ellipse">
            <a:avLst/>
          </a:prstGeom>
          <a:solidFill>
            <a:srgbClr val="FF00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22180" y="40690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ZFHX3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Biomni: one agent at human-expert level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Huang et al., “Biomni: A general-purpose biomedical AI agent,” bioRxiv 2025; Science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analysis needs many tools, databases, and skills; can one AI agent handle them all?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Stanford’s Biomni: an LLM agent with 100+ tools and databases that plans, writes code, and runs it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human experts on database and sequence questions; its cloning design worked in the lab</a:t>
            </a:r>
            <a:endParaRPr lang="en-US" sz="1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63640" y="1371600"/>
          <a:ext cx="50749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How well do AI agents analyze single-cell data?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Liu et al., “Benchmarking LLM-based agents for single-cell omics analysis,” arXiv 2508.13201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promise automated omics analysis, but how reliable are they on real tasks?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LLMs × 3 agent designs on 50 real single-cell tasks, scored on 18 metrics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Grok3-beta was best in every design; self-reflection and retrieval tools matter most</a:t>
            </a:r>
            <a:endParaRPr lang="en-US" sz="1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63640" y="1371600"/>
          <a:ext cx="50749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In our lab, AI now writes most of the code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Ge lab: RTutor.ai, Chatlize.ai, github.com/gexijin/inspect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can AI help build statistical software?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tracked how much code ChatGPT wrote in three tools we built, 2022–2024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share rose from 15% to 85%; we still test and fix every version</a:t>
            </a:r>
            <a:endParaRPr lang="en-US" sz="1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63640" y="1371600"/>
          <a:ext cx="50749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Where biostatisticians come in</a:t>
            </a:r>
            <a:endParaRPr lang="en-US" sz="4000" dirty="0"/>
          </a:p>
        </p:txBody>
      </p:sp>
      <p:sp>
        <p:nvSpPr>
          <p:cNvPr id="3" name="role-0"/>
          <p:cNvSpPr/>
          <p:nvPr/>
        </p:nvSpPr>
        <p:spPr>
          <a:xfrm>
            <a:off x="822960" y="1554480"/>
            <a:ext cx="5166360" cy="164592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4" name="role-dot-0"/>
          <p:cNvSpPr/>
          <p:nvPr/>
        </p:nvSpPr>
        <p:spPr>
          <a:xfrm>
            <a:off x="109728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5544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Multiplicity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try many analyses and report one. Is type I error controlled?</a:t>
            </a:r>
            <a:endParaRPr lang="en-US" sz="2400" dirty="0"/>
          </a:p>
        </p:txBody>
      </p:sp>
      <p:sp>
        <p:nvSpPr>
          <p:cNvPr id="7" name="role-1"/>
          <p:cNvSpPr/>
          <p:nvPr/>
        </p:nvSpPr>
        <p:spPr>
          <a:xfrm>
            <a:off x="6172200" y="1554480"/>
            <a:ext cx="5166360" cy="164592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8" name="role-dot-1"/>
          <p:cNvSpPr/>
          <p:nvPr/>
        </p:nvSpPr>
        <p:spPr>
          <a:xfrm>
            <a:off x="644652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5544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different answers. How much variation is acceptable?</a:t>
            </a:r>
            <a:endParaRPr lang="en-US" sz="2400" dirty="0"/>
          </a:p>
        </p:txBody>
      </p:sp>
      <p:sp>
        <p:nvSpPr>
          <p:cNvPr id="11" name="role-2"/>
          <p:cNvSpPr/>
          <p:nvPr/>
        </p:nvSpPr>
        <p:spPr>
          <a:xfrm>
            <a:off x="822960" y="3429000"/>
            <a:ext cx="5166360" cy="164592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2" name="role-dot-2"/>
          <p:cNvSpPr/>
          <p:nvPr/>
        </p:nvSpPr>
        <p:spPr>
          <a:xfrm>
            <a:off x="1097280" y="3886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34290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grade LLMs in most benchmarks. Are the scores valid?</a:t>
            </a:r>
            <a:endParaRPr lang="en-US" sz="2400" dirty="0"/>
          </a:p>
        </p:txBody>
      </p:sp>
      <p:sp>
        <p:nvSpPr>
          <p:cNvPr id="15" name="role-3"/>
          <p:cNvSpPr/>
          <p:nvPr/>
        </p:nvSpPr>
        <p:spPr>
          <a:xfrm>
            <a:off x="6172200" y="3429000"/>
            <a:ext cx="5166360" cy="164592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6" name="role-dot-3"/>
          <p:cNvSpPr/>
          <p:nvPr/>
        </p:nvSpPr>
        <p:spPr>
          <a:xfrm>
            <a:off x="6446520" y="3886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4290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as estimators and model proposers: bias, variance, consistency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AI science needs checkers. That’s us.</a:t>
            </a:r>
            <a:endParaRPr lang="en-US" sz="2600" dirty="0"/>
          </a:p>
        </p:txBody>
      </p:sp>
      <p:sp>
        <p:nvSpPr>
          <p:cNvPr id="21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20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Imperfect tools, faster science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</a:t>
            </a:r>
            <a:endParaRPr lang="en-US" sz="1800" dirty="0"/>
          </a:p>
        </p:txBody>
      </p:sp>
      <p:sp>
        <p:nvSpPr>
          <p:cNvPr id="5" name="row-0"/>
          <p:cNvSpPr/>
          <p:nvPr/>
        </p:nvSpPr>
        <p:spPr>
          <a:xfrm>
            <a:off x="822960" y="1874520"/>
            <a:ext cx="1051560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874520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Gene-transfer hypothesis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874520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years</a:t>
            </a:r>
            <a:endParaRPr lang="en-US" sz="2400" dirty="0"/>
          </a:p>
        </p:txBody>
      </p:sp>
      <p:sp>
        <p:nvSpPr>
          <p:cNvPr id="8" name="row-arrow-0"/>
          <p:cNvSpPr/>
          <p:nvPr/>
        </p:nvSpPr>
        <p:spPr>
          <a:xfrm>
            <a:off x="7772400" y="2066544"/>
            <a:ext cx="457200" cy="292608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0" y="187452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2432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search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624328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360,000 options</a:t>
            </a:r>
            <a:endParaRPr lang="en-US" sz="2400" dirty="0"/>
          </a:p>
        </p:txBody>
      </p:sp>
      <p:sp>
        <p:nvSpPr>
          <p:cNvPr id="12" name="row-arrow-1"/>
          <p:cNvSpPr/>
          <p:nvPr/>
        </p:nvSpPr>
        <p:spPr>
          <a:xfrm>
            <a:off x="7772400" y="2816352"/>
            <a:ext cx="457200" cy="292608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262432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experiments</a:t>
            </a:r>
            <a:endParaRPr lang="en-US" sz="2400" dirty="0"/>
          </a:p>
        </p:txBody>
      </p:sp>
      <p:sp>
        <p:nvSpPr>
          <p:cNvPr id="14" name="row-2"/>
          <p:cNvSpPr/>
          <p:nvPr/>
        </p:nvSpPr>
        <p:spPr>
          <a:xfrm>
            <a:off x="822960" y="3374136"/>
            <a:ext cx="1051560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374136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Bone-development regulators</a:t>
            </a:r>
            <a:endParaRPr lang="en-US" sz="2000" dirty="0"/>
          </a:p>
        </p:txBody>
      </p:sp>
      <p:sp>
        <p:nvSpPr>
          <p:cNvPr id="16" name="row-arrow-2"/>
          <p:cNvSpPr/>
          <p:nvPr/>
        </p:nvSpPr>
        <p:spPr>
          <a:xfrm>
            <a:off x="7772400" y="3566160"/>
            <a:ext cx="457200" cy="292608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337413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hours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123944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papers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123944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each</a:t>
            </a:r>
            <a:endParaRPr lang="en-US" sz="2400" dirty="0"/>
          </a:p>
        </p:txBody>
      </p:sp>
      <p:sp>
        <p:nvSpPr>
          <p:cNvPr id="20" name="row-arrow-3"/>
          <p:cNvSpPr/>
          <p:nvPr/>
        </p:nvSpPr>
        <p:spPr>
          <a:xfrm>
            <a:off x="7772400" y="4315968"/>
            <a:ext cx="457200" cy="292608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0" y="412394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 in one day</a:t>
            </a:r>
            <a:endParaRPr lang="en-US" sz="2400" dirty="0"/>
          </a:p>
        </p:txBody>
      </p:sp>
      <p:sp>
        <p:nvSpPr>
          <p:cNvPr id="22" name="row-4"/>
          <p:cNvSpPr/>
          <p:nvPr/>
        </p:nvSpPr>
        <p:spPr>
          <a:xfrm>
            <a:off x="822960" y="4873752"/>
            <a:ext cx="1051560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4873752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 by AI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487375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400" dirty="0"/>
          </a:p>
        </p:txBody>
      </p:sp>
      <p:sp>
        <p:nvSpPr>
          <p:cNvPr id="25" name="row-arrow-4"/>
          <p:cNvSpPr/>
          <p:nvPr/>
        </p:nvSpPr>
        <p:spPr>
          <a:xfrm>
            <a:off x="7772400" y="5065776"/>
            <a:ext cx="457200" cy="292608"/>
          </a:xfrm>
          <a:prstGeom prst="rightArrow">
            <a:avLst/>
          </a:prstGeom>
          <a:solidFill>
            <a:srgbClr val="A5A5A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0" y="487375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Imperfect: they hallucinate and make errors. But paired with good checkers, they speed up science.</a:t>
            </a:r>
            <a:endParaRPr lang="en-US" sz="1800" dirty="0"/>
          </a:p>
        </p:txBody>
      </p:sp>
      <p:sp>
        <p:nvSpPr>
          <p:cNvPr id="29" name="Text 0"/>
          <p:cNvSpPr/>
          <p:nvPr>
            <p:ph idx="101" type="body" hasCustomPrompt="1"/>
          </p:nvPr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Imperfect tools, faster science</dc:title>
  <dc:subject>PptxGenJS Presentation</dc:subject>
  <dc:creator>Xijin Ge</dc:creator>
  <cp:lastModifiedBy>Xijin Ge</cp:lastModifiedBy>
  <cp:revision>1</cp:revision>
  <dcterms:created xsi:type="dcterms:W3CDTF">2026-10-09T03:06:41Z</dcterms:created>
  <dcterms:modified xsi:type="dcterms:W3CDTF">2026-10-09T03:06:41Z</dcterms:modified>
</cp:coreProperties>
</file>